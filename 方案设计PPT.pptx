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73152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基于多模态AI监测的老年人跌倒风险、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心理健康、诈骗识别及预警研究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73152" cy="73152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73152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1A936F"/>
                </a:solidFill>
                <a:latin typeface="Microsoft YaHei"/>
              </a:rPr>
              <a:t>赛题 XH-202617
</a:t>
            </a:r>
            <a:r>
              <a:rPr sz="1400" b="0">
                <a:solidFill>
                  <a:srgbClr val="64748B"/>
                </a:solidFill>
                <a:latin typeface="Microsoft YaHei"/>
              </a:rPr>
              <a:t>海康威视 · 萤石网络  揭榜挂帅专项赛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4572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广东理工学院  XXX团队
</a:t>
            </a:r>
            <a:r>
              <a:rPr sz="1300" b="0">
                <a:solidFill>
                  <a:srgbClr val="64748B"/>
                </a:solidFill>
                <a:latin typeface="Microsoft YaHei"/>
              </a:rPr>
              <a:t>2026年6月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3200400"/>
            <a:ext cx="1828800" cy="1828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1024128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"满足老年人多方面需求，让老年人能有一个幸福美满的晚年，是各级党委和政府的重要责任。"</a:t>
            </a:r>
            <a:br/>
            <a:r>
              <a:t>—— 习近平总书记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4747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跌倒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4000万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每年约4000万老年人</a:t>
            </a:r>
            <a:br/>
            <a:r>
              <a:t>经历跌倒事件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29260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36.84%骨折</a:t>
            </a:r>
            <a:br/>
            <a:r>
              <a:t>近4成在家中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2860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2286000"/>
            <a:ext cx="34747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46888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  <a:latin typeface="Microsoft YaHei"/>
              </a:defRPr>
            </a:pPr>
            <a:r>
              <a:t>心理健康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88036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25-30%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56616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存在焦虑抑郁倾向</a:t>
            </a:r>
            <a:br/>
            <a:r>
              <a:t>的老年人口比例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51960"/>
            <a:ext cx="29260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专业干预率</a:t>
            </a:r>
            <a:br/>
            <a:r>
              <a:t>仅 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2860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286000"/>
            <a:ext cx="3474720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诈骗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8036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增长37%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56616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2025年涉老诈骗</a:t>
            </a:r>
            <a:br/>
            <a:r>
              <a:t>案件同比增长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251960"/>
            <a:ext cx="29260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AI换脸 · 精准围猎</a:t>
            </a:r>
            <a:br/>
            <a:r>
              <a:t>高风险群体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924D0E"/>
                </a:solidFill>
                <a:latin typeface="Microsoft YaHei"/>
              </a:defRPr>
            </a:pPr>
            <a:r>
              <a:t>核心痛点：现有方案仅做"事后识别与响应"，缺少"事前风险预判"能力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技术路线总览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基于萤石开放平台的多模态融合架构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32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萤石开放平台  设备接入  |  API 服务  |  云存储  |  告警推送  |  AI 算法订阅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3474720" cy="3291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3474720" cy="4572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1A936F"/>
                </a:solidFill>
                <a:latin typeface="Microsoft YaHei"/>
              </a:defRPr>
            </a:pPr>
            <a:r>
              <a:t>跌倒风险引擎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C6C Ultra 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步态基线建立 (7天)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步速 / 步幅 / 晃动分析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起坐耗时监测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偏离基线 → 风险预警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2194560"/>
            <a:ext cx="3474720" cy="3291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2194560"/>
            <a:ext cx="34747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242316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Microsoft YaHei"/>
              </a:defRPr>
            </a:pPr>
            <a:r>
              <a:t>心理健康引擎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788920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行为模式分析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10896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日均活动量趋势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6118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外出频率统计 (T2C)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411480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睡眠 / 作息规律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46177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孤独指数综合评分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194560"/>
            <a:ext cx="3474720" cy="3291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194560"/>
            <a:ext cx="3474720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42316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  <a:latin typeface="Microsoft YaHei"/>
              </a:defRPr>
            </a:pPr>
            <a:r>
              <a:t>诈骗识别引擎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788920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陌生人检测 + 异常交互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10896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入户门传感器 (T2C)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6118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人脸识别陌生度匹配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11480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通话频次异常检测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6177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 多信号融合告警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47472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47472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5760720"/>
            <a:ext cx="7589520" cy="5943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5779008"/>
            <a:ext cx="73152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▼  统一预警融合引擎  →  分级推送 (蓝·黄·橙·红)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跌倒风险前置预判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从"跌倒后识别"向"预判→检测→响应"全链路升级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12080" cy="4572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1A936F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已开发完成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46888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YOLOv8-pose 17关键点姿态估计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97480"/>
            <a:ext cx="4206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多特征融合跌倒评分 (躯干角35%+垂直速度25%+宽高比20%+角加速度12%+头脚位移8%)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06324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InsightFace 人脸识别 + 双级告警机制 + AI事件分析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3200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新增 — 步态预判模块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794760"/>
            <a:ext cx="182880" cy="182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39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步速 / 步幅 / 躯干晃动方差 / 双支撑相 / 起坐耗时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160520"/>
            <a:ext cx="182880" cy="182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建立 7 天个人基线 → 每日采样对比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526280"/>
            <a:ext cx="182880" cy="182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480560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偏离基线 &gt; 2σ → 推送"跌倒风险升高"预警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A936F"/>
                </a:solidFill>
                <a:latin typeface="Microsoft YaHei"/>
              </a:defRPr>
            </a:pPr>
            <a:r>
              <a:t>对应硬件：C6C Ultra ×2（客厅 + 卧室）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463040"/>
            <a:ext cx="50292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645920"/>
            <a:ext cx="4572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Microsoft YaHei"/>
              </a:defRPr>
            </a:pPr>
            <a:r>
              <a:t>预判 → 检测 → 响应 全链路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286000"/>
            <a:ext cx="411480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2286000"/>
            <a:ext cx="54864" cy="10972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377440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A936F"/>
                </a:solidFill>
                <a:latin typeface="Microsoft YaHei"/>
              </a:rPr>
              <a:t>事前 — 步态异常 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▸ 蓝色提示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743200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步速下降 / 晃动增大</a:t>
            </a:r>
            <a:br/>
            <a:r>
              <a:t>→ 推送家属知晓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657600"/>
            <a:ext cx="411480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3657600"/>
            <a:ext cx="54864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749039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Microsoft YaHei"/>
              </a:rPr>
              <a:t>事中 — 姿态异常 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▸ 黄色预警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114800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P≥0.50 黄色告警</a:t>
            </a:r>
            <a:br/>
            <a:r>
              <a:t>→ 注意观察，准备响应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5029200"/>
            <a:ext cx="411480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5029200"/>
            <a:ext cx="54864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120640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icrosoft YaHei"/>
              </a:rPr>
              <a:t>事发 — 确认跌倒 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▸ 红色告警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486400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P≥0.60 连续2帧</a:t>
            </a:r>
            <a:br/>
            <a:r>
              <a:t>→ 立即处理 + 截图 + AI分析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心理健康无感感知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基于长期行为数据的连续感知 — 不做问卷、不主动采集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57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057400" cy="4572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691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A936F"/>
                </a:solidFill>
                <a:latin typeface="Microsoft YaHei"/>
              </a:defRPr>
            </a:pPr>
            <a:r>
              <a:t>日均活动量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6916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移动检测框总量</a:t>
            </a:r>
            <a:br/>
            <a:r>
              <a:t>日趋势对比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691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DS-TDSB00-EKH</a:t>
            </a:r>
            <a:br/>
            <a:r>
              <a:t>C6C Ultra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63040"/>
            <a:ext cx="2057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463040"/>
            <a:ext cx="2057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45920"/>
            <a:ext cx="1691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4A261"/>
                </a:solidFill>
                <a:latin typeface="Microsoft YaHei"/>
              </a:defRPr>
            </a:pPr>
            <a:r>
              <a:t>外出频率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03120"/>
            <a:ext cx="16916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入户门传感器</a:t>
            </a:r>
            <a:br/>
            <a:r>
              <a:t>开关频次统计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66160"/>
            <a:ext cx="1691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T2C 门窗传感器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463040"/>
            <a:ext cx="2057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463040"/>
            <a:ext cx="2057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645920"/>
            <a:ext cx="1691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6366F1"/>
                </a:solidFill>
                <a:latin typeface="Microsoft YaHei"/>
              </a:defRPr>
            </a:pPr>
            <a:r>
              <a:t>睡眠/作息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03120"/>
            <a:ext cx="16916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卧室毫米波雷达</a:t>
            </a:r>
            <a:br/>
            <a:r>
              <a:t>睡眠质量监测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66160"/>
            <a:ext cx="1691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DS-TDSB00-EKH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463040"/>
            <a:ext cx="2057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463040"/>
            <a:ext cx="205740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645920"/>
            <a:ext cx="1691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EC4899"/>
                </a:solidFill>
                <a:latin typeface="Microsoft YaHei"/>
              </a:defRPr>
            </a:pPr>
            <a:r>
              <a:t>面部情绪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103120"/>
            <a:ext cx="16916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定期面部表情</a:t>
            </a:r>
            <a:br/>
            <a:r>
              <a:t>情绪倾向分析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566160"/>
            <a:ext cx="1691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C6C Ultra</a:t>
            </a:r>
            <a:br/>
            <a:r>
              <a:t>人脸识别扩展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463040"/>
            <a:ext cx="2057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463040"/>
            <a:ext cx="2057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1645920"/>
            <a:ext cx="1691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社交频率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103120"/>
            <a:ext cx="16916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多人同框次数</a:t>
            </a:r>
            <a:br/>
            <a:r>
              <a:t>社交活跃度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566160"/>
            <a:ext cx="1691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C6C Ultra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72000"/>
            <a:ext cx="10698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572000"/>
            <a:ext cx="54864" cy="1554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Microsoft YaHei"/>
              </a:defRPr>
            </a:pPr>
            <a:r>
              <a:t>交叉预警机制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120640"/>
            <a:ext cx="9875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焦虑 → 活动量减少 → 肌力下降 → 跌倒风险上升</a:t>
            </a:r>
            <a:br/>
            <a:r>
              <a:t>偏离个人基线 → 生成"心理健康风险周报" → 推送家属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715000"/>
            <a:ext cx="10058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1A936F"/>
                </a:solidFill>
                <a:latin typeface="Microsoft YaHei"/>
              </a:defRPr>
            </a:pPr>
            <a:r>
              <a:t>对应硬件：DS-TDSB00-EKH（睡眠监测）+ T2C（出入检测）+ C6C Ultra（行为+情绪）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诈骗风险识别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三个典型场景：入户门 · 手机端 · 客厅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74720" cy="4572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9260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1A936F"/>
                </a:solidFill>
                <a:latin typeface="Microsoft YaHei"/>
              </a:defRPr>
            </a:pPr>
            <a:r>
              <a:t>入户门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T2C 门窗传感器</a:t>
            </a:r>
            <a:br/>
            <a:r>
              <a:t>+ C6C Ultra 人脸识别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182880" cy="1828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88036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门窗开关事件记录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520440"/>
            <a:ext cx="182880" cy="1828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7472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人脸识别陌生度匹配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114800"/>
            <a:ext cx="182880" cy="1828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06908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陌生人入户 → 实时推送家属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463040"/>
            <a:ext cx="347472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463040"/>
            <a:ext cx="34747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645920"/>
            <a:ext cx="29260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Microsoft YaHei"/>
              </a:defRPr>
            </a:pPr>
            <a:r>
              <a:t>手机端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10312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通话频次分析</a:t>
            </a:r>
            <a:br/>
            <a:r>
              <a:t>(不监听内容)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2926080"/>
            <a:ext cx="182880" cy="182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88036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异常通话频次增多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3520440"/>
            <a:ext cx="182880" cy="182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347472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特定高风险时段识别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4114800"/>
            <a:ext cx="182880" cy="182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406908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多日异常模式 → 标记高风险日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63040"/>
            <a:ext cx="347472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63040"/>
            <a:ext cx="3474720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645920"/>
            <a:ext cx="29260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  <a:latin typeface="Microsoft YaHei"/>
              </a:defRPr>
            </a:pPr>
            <a:r>
              <a:t>客厅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103120"/>
            <a:ext cx="29260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C6C Ultra</a:t>
            </a:r>
            <a:br/>
            <a:r>
              <a:t>异常行为检测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926080"/>
            <a:ext cx="182880" cy="1828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88036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陌生人停留区域异常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520440"/>
            <a:ext cx="182880" cy="1828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47472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异常物品出现</a:t>
            </a:r>
            <a:br/>
            <a:r>
              <a:t>(礼品/保健品包装)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4114800"/>
            <a:ext cx="182880" cy="1828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4069080"/>
            <a:ext cx="2560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长时间逗留 + 陌生人 → 告警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1">
                <a:solidFill>
                  <a:srgbClr val="924D0E"/>
                </a:solidFill>
                <a:latin typeface="Microsoft YaHei"/>
              </a:defRPr>
            </a:pPr>
            <a:r>
              <a:t>从"事后报警"→"事前预警"转变  |  对应硬件：T2C ×2（入户门）+ C6C Ultra（人脸识别 + 异常行为）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多模态设备部署方案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926080"/>
                <a:gridCol w="731520"/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设备型号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部署位置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核心用途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C6C Ultra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客厅、卧室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姿态估计 + 人脸识别 + 步态分析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C6C 5MP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走廊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通用监控 + 行为追踪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CS-A3-V200-WBG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全屋中枢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Zigbee 3.0 设备联网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DS-TDSB00-EKT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卫生间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毫米波跌倒检测 (隐私)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DS-TDSB00-EKH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卧室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睡眠/呼吸/心率监测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T2C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入户门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开关检测 → 陌生人入户预警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T21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卫生间/厨房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存在检测 + 停留时长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T51C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浴室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湿度异常 → 水渍风险预警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萤石 SP10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客厅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语音交互 + 一键呼叫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部署示意：客厅(C6C Ultra+SP10) → 卧室(C6C Ultra+DS-TDSB00-EKH) → 卫生间(DS-TDSB00-EKT+T21) → 走廊(C6C 5MP) → 入户门(T2C×2)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基于萤石开放平台的实现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143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114300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A936F"/>
                </a:solidFill>
                <a:latin typeface="Microsoft YaHei"/>
              </a:defRPr>
            </a:pPr>
            <a:r>
              <a:t>设备层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280160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萤石 SDK 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C6C Ultra / C6C 5MP 视频流拉取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DS-TDSB00 毫米波雷达数据读取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T2C / T21 / T51C Zigbee 传感器接入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6596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SP10 智能屏语音交互通道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10698480" cy="1143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54864" cy="1143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  <a:latin typeface="Microsoft YaHei"/>
              </a:defRPr>
            </a:pPr>
            <a:r>
              <a:t>算法层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651760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自研 AI 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175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YOLOv8-pose 姿态估计 + 多特征融合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InsightFace 人脸识别 + 自动学习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3756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步态参数提取 + 个人基线建模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3756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行为模式分析 + 情绪倾向识别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10698480" cy="1143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59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Microsoft YaHei"/>
              </a:defRPr>
            </a:pPr>
            <a:r>
              <a:t>联动层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023359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萤石 API + 云存储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告警事件推送（WebSocket / SSE）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91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云存储截图 + 事件录像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59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萤石 AI 算法订阅作为对照基线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709159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设备联动规则（传感器 → 摄像头 → 告警）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10698480" cy="1143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303520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394959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Microsoft YaHei"/>
              </a:defRPr>
            </a:pPr>
            <a:r>
              <a:t>展示层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394959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Web + 家属端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607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Web 管理后台（监控大厅 + 风险看板）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7607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家属端实时查看 + 历史事件回放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080759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分级告警推送（蓝·黄·橙·红）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6080759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心理健康风险周报自动生成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评价指标与验证方案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65836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验证方式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跌倒检测准确率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CAUCAFall 公开数据集 + 自建居家场景实测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步态风险预判准确率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7天连续测试，与 Berg 平衡量表对比验证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心理健康评估一致性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 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与 GDS-15 老年抑郁量表做相关性验证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诈骗场景识别率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≥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模拟场景测试（陌生人入户 ×20次）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系统误报率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≤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24h 连续运行，统计误报次数/总检测次数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所有测试将在萤石设备实景部署环境中完成，提供完整的实测数据、截图及可复现的测试脚本。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适老化设计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05740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57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691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无感采集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不带手环 · 不填问卷 · 零操作</a:t>
            </a:r>
            <a:br/>
            <a:r>
              <a:t>所有数据自动采集、自动分析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463040"/>
            <a:ext cx="205740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463040"/>
            <a:ext cx="2057400" cy="4572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91640"/>
            <a:ext cx="1691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1A936F"/>
                </a:solidFill>
                <a:latin typeface="Microsoft YaHei"/>
              </a:defRPr>
            </a:pPr>
            <a:r>
              <a:t>隐私保护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卫生间仅用毫米波雷达（DS-TDSB00-EKT）</a:t>
            </a:r>
            <a:br/>
            <a:r>
              <a:t>零图像 · 仅点云坐标 · 不识别身份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463040"/>
            <a:ext cx="205740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463040"/>
            <a:ext cx="205740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691640"/>
            <a:ext cx="1691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F4A261"/>
                </a:solidFill>
                <a:latin typeface="Microsoft YaHei"/>
              </a:defRPr>
            </a:pPr>
            <a:r>
              <a:t>告警分层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8600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家属 → 社区网格员 → 120 急救</a:t>
            </a:r>
            <a:br/>
            <a:r>
              <a:t>逐级递进 · 不误报 · 不遗漏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205740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463040"/>
            <a:ext cx="2057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691640"/>
            <a:ext cx="1691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6366F1"/>
                </a:solidFill>
                <a:latin typeface="Microsoft YaHei"/>
              </a:defRPr>
            </a:pPr>
            <a:r>
              <a:t>一键呼叫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28600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SP10 智能屏语音直达家属</a:t>
            </a:r>
            <a:br/>
            <a:r>
              <a:t>"帮我叫一下儿子"即刻响应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463040"/>
            <a:ext cx="205740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463040"/>
            <a:ext cx="205740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19" y="1691640"/>
            <a:ext cx="1691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EC4899"/>
                </a:solidFill>
                <a:latin typeface="Microsoft YaHei"/>
              </a:defRPr>
            </a:pPr>
            <a:r>
              <a:t>数据本地化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28600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面部特征本地存储 · 不上传云端</a:t>
            </a:r>
            <a:br/>
            <a:r>
              <a:t>行为特征脱敏处理 · 合规安全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设计原则：老人无需学习任何操作，系统自动感知、自动分析、自动预警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200" b="1">
                <a:solidFill>
                  <a:srgbClr val="0D3B66"/>
                </a:solidFill>
                <a:latin typeface="Microsoft YaHei"/>
              </a:defRPr>
            </a:pPr>
            <a:r>
              <a:t>团队分工与时间规划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298448"/>
            <a:ext cx="182880" cy="182880"/>
          </a:xfrm>
          <a:prstGeom prst="ellipse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1508760"/>
            <a:ext cx="54864" cy="777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14300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A936F"/>
                </a:solidFill>
                <a:latin typeface="Microsoft YaHei"/>
              </a:defRPr>
            </a:pPr>
            <a:r>
              <a:t>5-6月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143000"/>
            <a:ext cx="2743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方案设计 &amp; 设备对接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0876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方案设计定稿 + 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3736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萤石设备申请与到货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6596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开放平台 API 集成开发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9456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设备联调与基础环境搭建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350008"/>
            <a:ext cx="182880" cy="1828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" y="2560320"/>
            <a:ext cx="54864" cy="777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19456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194560"/>
            <a:ext cx="2743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跌倒预判 &amp; 心理健康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6032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步态参数提取模块开发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8892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个人基线建模算法实现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1752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心理健康行为分析引擎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4612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各模块单元测试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3401568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" y="3611879"/>
            <a:ext cx="54864" cy="777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24612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Microsoft YaHei"/>
              </a:defRPr>
            </a:pPr>
            <a:r>
              <a:t>8月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246120"/>
            <a:ext cx="2743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诈骗识别 &amp; 系统联调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诈骗识别引擎开发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840479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预警融合引擎联调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069079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居家实景部署测试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297679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性能优化 + 误报调优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4453128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5568" y="4663440"/>
            <a:ext cx="54864" cy="777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429768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Microsoft YaHei"/>
              </a:defRPr>
            </a:pPr>
            <a:r>
              <a:t>9月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297680"/>
            <a:ext cx="2743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材料提交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66344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研究报告撰写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89204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源代码整理 + 部署文档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12064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测试报告 + 实测数据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349240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9月5日前完成提交</a:t>
            </a:r>
          </a:p>
        </p:txBody>
      </p:sp>
      <p:sp>
        <p:nvSpPr>
          <p:cNvPr id="37" name="Oval 36"/>
          <p:cNvSpPr/>
          <p:nvPr/>
        </p:nvSpPr>
        <p:spPr>
          <a:xfrm>
            <a:off x="1051560" y="5504688"/>
            <a:ext cx="182880" cy="18288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349240"/>
            <a:ext cx="1371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10-11月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349240"/>
            <a:ext cx="2743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终审准备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714999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入围后专家指导优化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943599"/>
            <a:ext cx="7315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终审擂台赛答辩准备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创新点总结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15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" cy="100584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1A936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373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从"事后识别"到"事前预判"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03120"/>
            <a:ext cx="9144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步态+行为的个人基线模型，首次实现居家跌倒风险前置预判，构建</a:t>
            </a:r>
            <a:br/>
            <a:r>
              <a:t>"预判→检测→响应"全链路闭环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10698480" cy="1005840"/>
          </a:xfrm>
          <a:prstGeom prst="rect">
            <a:avLst/>
          </a:prstGeom>
          <a:solidFill>
            <a:srgbClr val="15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73152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F4A26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7180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从"单点视觉"到"多模态融合"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337560"/>
            <a:ext cx="9144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RGB摄像机(C6C Ultra) + 毫米波雷达(DS-TDSB00) + Zigbee传感器(T2C/T21/T51C)</a:t>
            </a:r>
            <a:br/>
            <a:r>
              <a:t>晚期融合架构，覆盖可视区与隐私区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698480" cy="1005840"/>
          </a:xfrm>
          <a:prstGeom prst="rect">
            <a:avLst/>
          </a:prstGeom>
          <a:solidFill>
            <a:srgbClr val="15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73152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6366F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20624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三个安全维度统一平台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572000"/>
            <a:ext cx="9144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跌倒风险 + 心理健康 + 诈骗识别，一套系统覆盖居家养老全场景，</a:t>
            </a:r>
            <a:br/>
            <a:r>
              <a:t>打通数据孤岛，实现联防联控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solidFill>
            <a:srgbClr val="15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49240"/>
            <a:ext cx="73152" cy="1005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4406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隐私安全无感设计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806440"/>
            <a:ext cx="9144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卫生间无视频(仅雷达点云) · 面部数据本地存储 · 行为特征脱敏 · 零操作负担</a:t>
            </a:r>
            <a:br/>
            <a:r>
              <a:t>让技术隐形，让安全可见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基于萤石开放平台  |  赛题 XH-202617  |  广东理工学院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